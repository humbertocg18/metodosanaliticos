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pt-BR" dirty="0"/>
              <a:t>Utilização por fila – inicial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Inicial</c:v>
                </c:pt>
              </c:strCache>
            </c:strRef>
          </c:tx>
          <c:spPr>
            <a:solidFill>
              <a:srgbClr val="1F3A5F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50.041811032210923</c:v>
                </c:pt>
                <c:pt idx="1">
                  <c:v>99.999342717367142</c:v>
                </c:pt>
                <c:pt idx="2">
                  <c:v>37.491862005227858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FF9-4525-B76B-93FF0E443A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pt-BR" dirty="0"/>
              <a:t>W por visita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Inicial</c:v>
                </c:pt>
              </c:strCache>
            </c:strRef>
          </c:tx>
          <c:spPr>
            <a:solidFill>
              <a:srgbClr val="1F3A5F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61.043596488310435</c:v>
                </c:pt>
                <c:pt idx="2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EF7-4FF5-9AE2-EBDF8FE5E3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Melhorado</c:v>
                </c:pt>
              </c:strCache>
            </c:strRef>
          </c:tx>
          <c:spPr>
            <a:solidFill>
              <a:srgbClr val="F2C230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3.0000000000000004</c:v>
                </c:pt>
                <c:pt idx="1">
                  <c:v>9.7841592890752871</c:v>
                </c:pt>
                <c:pt idx="2">
                  <c:v>3.332281265804359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EF7-4FF5-9AE2-EBDF8FE5E3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1661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Olá, somos Artur Lemos Pereira, Raul Neves Pedroso e Humberto Corrêa Gomes. Neste trabalho modelamos uma assistência técnica hipotética como uma rede de três filas, simulamos com o simulador da T1 e testamos uma melhoria no reparo. Eu começo pelo problema, o Raul apresenta a análise do cenário inicial e o Humberto mostra a melhoria e a conclusão.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realidade escolhida é uma assistência técnica de equipamentos. Cada cliente da rede é uma ordem de serviço, ou seja, um equipamento. Ele passa pela triagem, segue para o reparo e depois para o teste; se o teste reprova, volta ao reparo. É um cenário hipotético: os tempos são premissas nossas, não dados de uma empresa real. A pergunta é onde a rede trava e qual mudança simples reduz espera e perdas. Vamos ao desenho da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triagem, Q1, é G/G/1/5: um atendente, capacidade 5 contando quem está em atendimento, serviço uniforme entre 2 e 4 minutos. As chegadas externas ocorrem só na triagem, a cada 5 a 7 minutos, com a primeira em 6. Todo equipamento vai para o reparo, Q2, G/G/1/8, com serviço de 6 a 10 minutos, e todo reparado vai para o teste, Q3, G/G/1/5, de 2 a 4 minutos. Do teste, 20% retornam ao reparo, pela seta de retorno embaixo, e 80% saem da rede. Se a fila de destino está cheia, o equipamento é perdido, ou seja, encaminhado definitivamente para fora. A disciplina é FIFO.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Usamos o simulador da T1 com 1.000.000 números aleatórios por replicação. Cada cenário teve 10 replicações, sementes 42 a 51, totalizando 20 execuções. A rede começa vazia e não descartamos aquecimento. Como cada execução termina num tempo diferente, 1.411.699,19 minutos no inicial e 1.043.673,87 no melhorado com a semente 42, comparamos taxas por hora, não contagens brutas. A semente 42 é o caso principal; o resumo das 10 sementes vem no fim. Agora o Raul explica os cálculos.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Obrigado, Artur. Usamos as fórmulas do M9. Pi i é a fração do tempo no estado i: tempo acumulado dividido pelo tempo total. A população média N é a soma de pi i vezes i, incluindo quem está em atendimento. O serviço médio é a mais b sobre dois e mi é o inverso; no estado i, a taxa mi i é o mínimo entre i e c, vezes mi. A vazão D é a soma de pi i vezes mi i, o mesmo que mi vezes B, o número médio de servidores ocupados. A utilização U é B sobre c, por servidor, e o tempo de resposta W é N sobre D, em minutos por visita. Conferimos as fórmulas com as imagens do M9 fornecidas pelo grupo. No reparo, o serviço médio de 8 minutos dá 7,5 atendimentos por hora por técnico; com 2 técnicos, a capacidade sobe para 15,0 por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Esta tabela traz a probabilidade de todos os estados das três filas no cenário inicial; o traço indica estado acima da capacidade. Na triagem e no teste o sistema fica entre zero e um equipamento. No reparo, a massa está no topo: 36,8127% do tempo com 7 e 63,1206% com 8, a capacidade máxima. Atenção: a fração de tempo com a fila cheia não é a probabilidade de perda, porque as chegadas não são Poisson.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 reparo, a utilização é 100,00% e a população média N é 7,63. O tempo de resposta W é 61,04 minutos por visita, contra 3,00 na triagem e 3,00 no teste. Foram 94.045 perdas no reparo em 1.411.699,19 minutos, ou 3,9971 perdas por hora. Triagem e teste registraram 0 e 0 perdas.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 gargalo é o reparo. Ele recebe as ordens da triagem e ainda os retornos do teste, mas um técnico atende em média 7,5 por hora. Com utilização de 100,00%, a fila fica cheia e as perdas aparecem. Triagem e teste têm folga, com 50,04% e 37,49%. Por isso a melhoria deve atacar o reparo. Passo para o Humberto.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Obrigado, Raul. Na rede melhorada mudamos um único parâmetro: o reparo passa de 1 para 2 técnicos, virando G/G/2/8. A capacidade 8 continua igual, assim como chegadas, serviços e rotas, inclusive o retorno de 20%.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Com 2 técnicos, a distribuição do reparo se desloca para baixo: o estado vazio tem 0,4374% e o estado cheio aparece em apenas 0,0193% do tempo. As regras da tabela são as mesmas do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 melhorado, a utilização média por técnico do reparo é 83,30%, a população média N cai para 2,04 e o tempo de resposta W para 9,78 minutos. Houve 12 perdas em 1.043.673,87 minutos, 0,000690 por hora: raras, mas não eliminadas.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 reparo, W varia -83,97%, de 61,04 para 9,78 minutos por visita, e as perdas por hora variam -99,98%. A utilização por técnico cai 16,7 pontos percentuais. O teste recebe mais fluxo: a vazão estimada D de Q3 vai de 7,50 para 12,50 por hora e seu W de 3,00 para 3,33 minutos. Não somamos os W das filas como tempo de rede, porque com retornos um equipamento pode visitar reparo e teste mais de uma vez; e o D do reparo inclui revisitas, não é o número de equipamentos únicos concluídos.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Nas 10 sementes, o W do reparo ficou entre 61,04 e 61,05 minutos no inicial, média 61,04, e entre 9,72 e 9,78 no melhorado, média 9,75. As perdas por hora seguem o mesmo sentido. É um resumo descritivo, sem intervalo de confiança.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Neste modelo hipotético, o segundo técnico no reparo reduz fortemente espera e perdas. O custo é um técnico adicional, que não estimamos em dinheiro. A simulação não prova rentabilidade nem que uma empresa real se comportaria assim. Limites: modelo hipotético, tempos uniformes supostos, sem aquecimento, e a vazão D é estimada pela ocupação, não contada.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 referências são o M9 do professor Afonso Sales, o simulador da T1, a análise da T2 e o texto do MIT sobre a lei de Little. Obrigado pela.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mit.edu/urban_or_book/www/book/chapter4/4.4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1/15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dirty="0"/>
              <a:t>Rede de filas de uma assistência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F2C230"/>
                </a:solidFill>
              </a:defRPr>
            </a:pPr>
            <a:r>
              <a:rPr dirty="0"/>
              <a:t>T2 – Métodos Analíticos · simulação com o simulador da 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rPr dirty="0"/>
              <a:t>Artur Lemos Pereira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rPr dirty="0"/>
              <a:t>Raul Neves Pedroso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rPr dirty="0"/>
              <a:t>Humberto Corrêa Gomes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Cenário hipotético: triagem → reparo → teste, com retrabalho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A realidade modelada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Assistência técnica hipotética de equipamentos; cliente = ordem de serviço / equipamento.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Fluxo: triagem → reparo → teste; reprovado no teste volta ao reparo (retrabalho).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Fila cheia no destino = equipamento perdido (encaminhado definitivamente para fora).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Tempos são premissas do grupo, não dados de uma empresa real.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Pergunta: onde a rede trava e que mudança simples reduz espera e perdas?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Rede inicial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3/15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463040"/>
            <a:ext cx="2194560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Q1 – Triagem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G/G/1/5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1 servidor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serviço U(2, 4)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463040"/>
            <a:ext cx="2194560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Q2 – Reparo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G/G/1/8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1 servidor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serviço U(6, 10)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63040"/>
            <a:ext cx="2194560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Q3 – Teste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G/G/1/5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1 servidor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serviço U(2, 4)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1143000"/>
            <a:ext cx="146304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A8C84"/>
                </a:solidFill>
              </a:defRPr>
            </a:pPr>
            <a:r>
              <a:rPr lang="pt-BR" dirty="0"/>
              <a:t>C</a:t>
            </a:r>
            <a:r>
              <a:rPr dirty="0"/>
              <a:t>hegada externa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1A8C84"/>
                </a:solidFill>
              </a:defRPr>
            </a:pPr>
            <a:r>
              <a:rPr dirty="0"/>
              <a:t>U(5, 7) min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1A8C84"/>
                </a:solidFill>
              </a:defRPr>
            </a:pPr>
            <a:r>
              <a:rPr dirty="0"/>
              <a:t>1ª em 6 min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" y="2148840"/>
            <a:ext cx="1325880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49039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F3A5F"/>
                </a:solidFill>
              </a:defRPr>
            </a:pPr>
            <a:r>
              <a:rPr dirty="0"/>
              <a:t>100%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2148840"/>
            <a:ext cx="1188721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0" y="1691640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F3A5F"/>
                </a:solidFill>
              </a:defRPr>
            </a:pPr>
            <a:r>
              <a:rPr dirty="0"/>
              <a:t>100%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0" y="2148840"/>
            <a:ext cx="1188720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0" y="16459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F3A5F"/>
                </a:solidFill>
              </a:defRPr>
            </a:pPr>
            <a:r>
              <a:rPr dirty="0"/>
              <a:t>80% saída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0" y="2148840"/>
            <a:ext cx="1280160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18319" y="2834640"/>
            <a:ext cx="0" cy="731520"/>
          </a:xfrm>
          <a:prstGeom prst="line">
            <a:avLst/>
          </a:prstGeom>
          <a:ln w="31750">
            <a:solidFill>
              <a:srgbClr val="1A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35040" y="3566160"/>
            <a:ext cx="3383279" cy="0"/>
          </a:xfrm>
          <a:prstGeom prst="line">
            <a:avLst/>
          </a:prstGeom>
          <a:ln w="31750">
            <a:solidFill>
              <a:srgbClr val="1A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035040" y="2834640"/>
            <a:ext cx="0" cy="731520"/>
          </a:xfrm>
          <a:prstGeom prst="line">
            <a:avLst/>
          </a:prstGeom>
          <a:ln w="31750">
            <a:solidFill>
              <a:srgbClr val="1A8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0" y="3611880"/>
            <a:ext cx="3017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A8C84"/>
                </a:solidFill>
              </a:defRPr>
            </a:pPr>
            <a:r>
              <a:rPr dirty="0"/>
              <a:t>20% retorno (retrabalho) Q3 → 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1F2937"/>
                </a:solidFill>
              </a:defRPr>
            </a:pPr>
            <a:r>
              <a:rPr dirty="0"/>
              <a:t>Legenda: caixa = fila G/G/c/K (c servidores; K inclui quem está em serviço) · seta = rota e probabilidade · tempos em minutos · FIFO · Q2 e Q3 sem chegadas externas · chegada a fila cheia = perda (encaminhamento externo definitivo).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Método de simulação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Simulador da T1, 1.000.000 aleatórios por replicação (critério de parada).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10 replicações por cenário, sementes 42..51: 20 execuções.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Rede inicia vazia; sem aquecimento (warmup) descartado.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Semente 42: T = 1.411.699,19 min (inicial) e 1.043.673,87 min (melhorado).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Tempos finais diferentes → comparar taxas por hora, não contagens brutas.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1F2937"/>
                </a:solidFill>
              </a:defRPr>
            </a:pPr>
            <a:r>
              <a:rPr dirty="0"/>
              <a:t>• Slides usam a semente 42; resumo das 10 sementes no slide de robustez.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Fórmulas e unidades (M9)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5/15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6997035"/>
                  </p:ext>
                </p:extLst>
              </p:nvPr>
            </p:nvGraphicFramePr>
            <p:xfrm>
              <a:off x="548640" y="1325880"/>
              <a:ext cx="7589520" cy="50972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298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98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98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3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dirty="0"/>
                            <a:t>Índice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dirty="0"/>
                            <a:t>Fórmula (M9, i = 1..K)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dirty="0"/>
                            <a:t>Unidade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tempo no estado i / T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fração do tempo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N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𝛴</m:t>
                                </m:r>
                                <m:sSub>
                                  <m:sSubPr>
                                    <m:ctrlP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i="0" dirty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pt-BR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clientes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lang="el-GR" dirty="0"/>
                            <a:t>Μ</a:t>
                          </a:r>
                          <a:endParaRPr dirty="0"/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  <m: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den>
                                </m:f>
                                <m:r>
                                  <a:rPr lang="pt-BR" i="0" dirty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pt-BR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pt-BR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  <m: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atend./min/servidor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dirty="0" err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pt-BR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d>
                                  <m:dPr>
                                    <m:ctrlP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  <m:r>
                                  <a:rPr lang="pt-BR" i="0" dirty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pt-BR" i="1" dirty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atend./min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D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𝛴</m:t>
                                </m:r>
                                <m:sSub>
                                  <m:sSubPr>
                                    <m:ctrlP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i="0" dirty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sSub>
                                  <m:sSubPr>
                                    <m:ctrlP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pt-BR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i="1" dirty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pt-BR" i="0" dirty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pt-BR" i="1" dirty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atend./min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dirty="0" err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pt-BR" i="1" dirty="0" err="1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pt-BR" i="0" dirty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pt-BR" i="1" dirty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atend./h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U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𝛴</m:t>
                                </m:r>
                                <m:sSub>
                                  <m:sSubPr>
                                    <m:ctrlP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i="0" dirty="0" smtClean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f>
                                  <m:fPr>
                                    <m:ctrl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  <m: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den>
                                </m:f>
                                <m:r>
                                  <a:rPr lang="pt-BR" i="0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por servidor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W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pt-B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b="0" i="1" dirty="0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pt-BR" b="0" i="1" dirty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den>
                              </m:f>
                            </m:oMath>
                          </a14:m>
                          <a:r>
                            <a:rPr dirty="0"/>
                            <a:t>(lei de Little)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min/visita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B (auxiliar)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𝛴</m:t>
                                </m:r>
                                <m:sSub>
                                  <m:sSubPr>
                                    <m:ctrlP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i="0" dirty="0" smtClean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d>
                                  <m:dPr>
                                    <m:ctrlP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0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servidores ocupados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Perdas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pt-BR" i="0" dirty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f>
                                  <m:f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perdas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pt-BR" b="0" i="1" dirty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perdas/h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6997035"/>
                  </p:ext>
                </p:extLst>
              </p:nvPr>
            </p:nvGraphicFramePr>
            <p:xfrm>
              <a:off x="548640" y="1325880"/>
              <a:ext cx="7589520" cy="50972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298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98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98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3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t>Índice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t>Fórmula (M9, i = 1..K)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t>Unidade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2" t="-101333" r="-201205" b="-9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tempo no estado i / T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fração do tempo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N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82" t="-201333" r="-101205" b="-8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clientes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4381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lang="el-GR" dirty="0"/>
                            <a:t>Μ</a:t>
                          </a:r>
                          <a:endParaRPr dirty="0"/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82" t="-272289" r="-101205" b="-639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atend./min/servidor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2" t="-412000" r="-201205" b="-6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82" t="-412000" r="-101205" b="-6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atend./min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D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82" t="-512000" r="-101205" b="-5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atend./min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2" t="-612000" r="-201205" b="-4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82" t="-612000" r="-101205" b="-4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atend./h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68821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U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82" t="-693506" r="-101205" b="-297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por servidor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W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82" t="-814667" r="-101205" b="-2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min/visita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B (auxiliar)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82" t="-914667" r="-101205" b="-1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servidores ocupados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46640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2" t="-988312" r="-201205" b="-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82" t="-988312" r="-101205" b="-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 err="1"/>
                            <a:t>perdas</a:t>
                          </a:r>
                          <a:r>
                            <a:rPr dirty="0"/>
                            <a:t>/h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8412480" y="1325880"/>
                <a:ext cx="3383280" cy="3108960"/>
              </a:xfrm>
              <a:prstGeom prst="roundRect">
                <a:avLst/>
              </a:prstGeom>
              <a:solidFill>
                <a:srgbClr val="1A8C84"/>
              </a:solidFill>
              <a:ln>
                <a:solidFill>
                  <a:srgbClr val="1F3A5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600" b="1">
                    <a:solidFill>
                      <a:srgbClr val="FFFFFF"/>
                    </a:solidFill>
                  </a:defRPr>
                </a:pPr>
                <a:r>
                  <a:rPr dirty="0"/>
                  <a:t>Exemplo: reparo (Q2)</a:t>
                </a:r>
              </a:p>
              <a:p>
                <a:pPr algn="ctr">
                  <a:defRPr sz="1400" b="0">
                    <a:solidFill>
                      <a:srgbClr val="FFFFFF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pt-BR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(6+10)</m:t>
                          </m:r>
                        </m:num>
                        <m:den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i="0" dirty="0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dirty="0"/>
              </a:p>
              <a:p>
                <a:pPr algn="ctr">
                  <a:defRPr sz="1400" b="0">
                    <a:solidFill>
                      <a:srgbClr val="FFFFFF"/>
                    </a:solidFill>
                  </a:defRPr>
                </a:pPr>
                <a:r>
                  <a:rPr dirty="0"/>
                  <a:t>μ = 0,125/min = 7,5/h por técnico</a:t>
                </a:r>
              </a:p>
              <a:p>
                <a:pPr algn="ctr">
                  <a:defRPr sz="1400" b="0">
                    <a:solidFill>
                      <a:srgbClr val="FFFFFF"/>
                    </a:solidFill>
                  </a:defRPr>
                </a:pPr>
                <a:r>
                  <a:rPr dirty="0"/>
                  <a:t>2 técnicos: capacidade 15,0/h</a:t>
                </a: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0" y="1325880"/>
                <a:ext cx="3383280" cy="310896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1F3A5F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412480" y="45720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1F2937"/>
                </a:solidFill>
              </a:defRPr>
            </a:pPr>
            <a:r>
              <a:rPr dirty="0"/>
              <a:t>Sem M/M/c analítico: serviços e chegadas são uniformes.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F2937"/>
                </a:solidFill>
              </a:defRPr>
            </a:pPr>
            <a:r>
              <a:rPr dirty="0"/>
              <a:t>Fórmulas conferidas com as imagens do M9 fornecidas pelo grupo.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Probabilidades – cenário inicial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6/15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242158"/>
              </p:ext>
            </p:extLst>
          </p:nvPr>
        </p:nvGraphicFramePr>
        <p:xfrm>
          <a:off x="548640" y="1325880"/>
          <a:ext cx="76809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Q1 (K=5)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Q2 (K=8)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Q3 (K=5)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49,9582%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0,0007%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62,5081%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50,0418%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37,4919%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0,0002%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0,0005%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0,0620%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36,8127%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63,1206%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Soma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100,0000%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100,0000%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100,0000%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503920" y="1325880"/>
                <a:ext cx="3291840" cy="23627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600"/>
                  </a:spcAft>
                  <a:defRPr sz="1500" b="0">
                    <a:solidFill>
                      <a:srgbClr val="1F2937"/>
                    </a:solidFill>
                  </a:defRPr>
                </a:pPr>
                <a:r>
                  <a:rPr dirty="0"/>
                  <a:t>Cenário inicial, semente 42.</a:t>
                </a:r>
              </a:p>
              <a:p>
                <a:pPr algn="l">
                  <a:spcAft>
                    <a:spcPts val="600"/>
                  </a:spcAft>
                  <a:defRPr sz="1500" b="0">
                    <a:solidFill>
                      <a:srgbClr val="1F2937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 = tempo no estado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r>
                  <a:rPr dirty="0"/>
                  <a:t>.</a:t>
                </a:r>
              </a:p>
              <a:p>
                <a:pPr algn="l">
                  <a:spcAft>
                    <a:spcPts val="600"/>
                  </a:spcAft>
                  <a:defRPr sz="1500" b="0">
                    <a:solidFill>
                      <a:srgbClr val="1F2937"/>
                    </a:solidFill>
                  </a:defRPr>
                </a:pPr>
                <a:r>
                  <a:rPr dirty="0"/>
                  <a:t>“–” = estado acima da capacidade K.</a:t>
                </a:r>
              </a:p>
              <a:p>
                <a:pPr algn="l">
                  <a:spcAft>
                    <a:spcPts val="600"/>
                  </a:spcAft>
                  <a:defRPr sz="1500" b="0">
                    <a:solidFill>
                      <a:srgbClr val="1F2937"/>
                    </a:solidFill>
                  </a:defRPr>
                </a:pPr>
                <a:r>
                  <a:rPr dirty="0"/>
                  <a:t>Percentuais com 4 casas; a soma arredondada pode divergir de 100%.</a:t>
                </a:r>
              </a:p>
              <a:p>
                <a:pPr algn="l">
                  <a:spcAft>
                    <a:spcPts val="600"/>
                  </a:spcAft>
                  <a:defRPr sz="1500" b="0">
                    <a:solidFill>
                      <a:srgbClr val="1F2937"/>
                    </a:solidFill>
                  </a:defRPr>
                </a:pPr>
                <a:r>
                  <a:rPr dirty="0"/>
                  <a:t>P(K) é fração do tempo com a fila cheia, não a probabilidade de perda (chegadas não Poisson).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0" y="1325880"/>
                <a:ext cx="3291840" cy="2362763"/>
              </a:xfrm>
              <a:prstGeom prst="rect">
                <a:avLst/>
              </a:prstGeom>
              <a:blipFill>
                <a:blip r:embed="rId3"/>
                <a:stretch>
                  <a:fillRect l="-741" t="-775" r="-556" b="-2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Índices – cenário inicial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7/15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Fila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N (clientes)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U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D_h (atend./h)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W (min/visita)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Perdas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Perdas/h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Q1 – Triagem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0,5004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50,04%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10,0084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3,0000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0,000000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Q2 – Reparo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7,6304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100,00%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7,5000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61,0436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94.045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3,997098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Q3 – Teste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0,3749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37,49%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7,4984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3,0000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0,000000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8640" y="3840480"/>
                <a:ext cx="11064240" cy="17370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600"/>
                  </a:spcAft>
                  <a:defRPr sz="1700" b="0">
                    <a:solidFill>
                      <a:srgbClr val="1F2937"/>
                    </a:solidFill>
                  </a:defRPr>
                </a:pPr>
                <a:r>
                  <a:rPr dirty="0"/>
                  <a:t>Cenário inicial, semente 42: T = 1.411.699,19 min simulados.</a:t>
                </a:r>
              </a:p>
              <a:p>
                <a:pPr algn="l">
                  <a:spcAft>
                    <a:spcPts val="600"/>
                  </a:spcAft>
                  <a:defRPr sz="1700" b="0">
                    <a:solidFill>
                      <a:srgbClr val="1F2937"/>
                    </a:solidFill>
                  </a:defRPr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pt-BR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pt-BR" dirty="0"/>
                  <a:t> </a:t>
                </a:r>
                <a:r>
                  <a:rPr dirty="0"/>
                  <a:t>(média por servidor);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i="0" dirty="0">
                        <a:latin typeface="Cambria Math" panose="02040503050406030204" pitchFamily="18" charset="0"/>
                      </a:rPr>
                      <m:t>·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dirty="0"/>
                  <a:t> (atend./min),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 err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pt-BR" i="1" dirty="0" err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pt-BR" i="0" dirty="0" err="1">
                        <a:latin typeface="Cambria Math" panose="02040503050406030204" pitchFamily="18" charset="0"/>
                      </a:rPr>
                      <m:t>=60·</m:t>
                    </m:r>
                    <m:r>
                      <a:rPr lang="pt-BR" i="1" dirty="0" err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dirty="0"/>
                  <a:t>: estimativa da vazão local, inclui revisitas.</a:t>
                </a:r>
              </a:p>
              <a:p>
                <a:pPr algn="l">
                  <a:spcAft>
                    <a:spcPts val="600"/>
                  </a:spcAft>
                  <a:defRPr sz="1700" b="0">
                    <a:solidFill>
                      <a:srgbClr val="1F2937"/>
                    </a:solidFill>
                  </a:defRPr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pt-BR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D</m:t>
                        </m:r>
                      </m:den>
                    </m:f>
                  </m:oMath>
                </a14:m>
                <a:r>
                  <a:rPr lang="pt-BR" dirty="0"/>
                  <a:t> </a:t>
                </a:r>
                <a:r>
                  <a:rPr dirty="0"/>
                  <a:t>, com D por minuto (Little): estimativa de longo prazo por visita, não por ordem.</a:t>
                </a:r>
              </a:p>
              <a:p>
                <a:pPr algn="l">
                  <a:spcAft>
                    <a:spcPts val="600"/>
                  </a:spcAft>
                  <a:defRPr sz="1700" b="0">
                    <a:solidFill>
                      <a:srgbClr val="1F293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Perdas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pt-BR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0" dirty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pt-BR" dirty="0" smtClean="0"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Perdas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r>
                  <a:rPr dirty="0"/>
                  <a:t>: taxa observada, comparável entre execuções de duração diferente.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840480"/>
                <a:ext cx="11064240" cy="1737014"/>
              </a:xfrm>
              <a:prstGeom prst="rect">
                <a:avLst/>
              </a:prstGeom>
              <a:blipFill>
                <a:blip r:embed="rId3"/>
                <a:stretch>
                  <a:fillRect l="-331" t="-10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Diagnóstico: o reparo é o gargalo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8/15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1F2937"/>
                </a:solidFill>
              </a:defRPr>
            </a:pPr>
            <a:r>
              <a:rPr dirty="0"/>
              <a:t>• Q2 recebe triagem + retornos do teste; 1 técnico atende ~7,5/h.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1F2937"/>
                </a:solidFill>
              </a:defRPr>
            </a:pPr>
            <a:r>
              <a:rPr dirty="0"/>
              <a:t>• U(Q2) = 100,00%; fila cheia 63,12% do tempo.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1F2937"/>
                </a:solidFill>
              </a:defRPr>
            </a:pPr>
            <a:r>
              <a:rPr dirty="0"/>
              <a:t>• 94.045 perdas em Q2 → 3,9971 perdas/h.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1F2937"/>
                </a:solidFill>
              </a:defRPr>
            </a:pPr>
            <a:r>
              <a:rPr dirty="0"/>
              <a:t>• Folga em Q1 (50,04%) e Q3 (37,49%).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1F2937"/>
                </a:solidFill>
              </a:defRPr>
            </a:pPr>
            <a:r>
              <a:rPr dirty="0"/>
              <a:t>• Conclusão: a melhoria deve atacar o reparo.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0" y="1371600"/>
          <a:ext cx="48463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Rede melhorada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9/15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463040"/>
            <a:ext cx="2194560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Q1 – Triagem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G/G/1/5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1 servidor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serviço U(2, 4)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463040"/>
            <a:ext cx="2194560" cy="1371600"/>
          </a:xfrm>
          <a:prstGeom prst="roundRect">
            <a:avLst/>
          </a:prstGeom>
          <a:solidFill>
            <a:srgbClr val="F2C230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F3A5F"/>
                </a:solidFill>
              </a:defRPr>
            </a:pPr>
            <a:r>
              <a:rPr dirty="0"/>
              <a:t>Q2 – Reparo</a:t>
            </a:r>
          </a:p>
          <a:p>
            <a:pPr algn="ctr">
              <a:defRPr sz="1300" b="0">
                <a:solidFill>
                  <a:srgbClr val="1F3A5F"/>
                </a:solidFill>
              </a:defRPr>
            </a:pPr>
            <a:r>
              <a:rPr dirty="0"/>
              <a:t>G/G/2/8</a:t>
            </a:r>
          </a:p>
          <a:p>
            <a:pPr algn="ctr">
              <a:defRPr sz="1300" b="0">
                <a:solidFill>
                  <a:srgbClr val="1F3A5F"/>
                </a:solidFill>
              </a:defRPr>
            </a:pPr>
            <a:r>
              <a:rPr dirty="0"/>
              <a:t>2 servidores</a:t>
            </a:r>
          </a:p>
          <a:p>
            <a:pPr algn="ctr">
              <a:defRPr sz="1300" b="0">
                <a:solidFill>
                  <a:srgbClr val="1F3A5F"/>
                </a:solidFill>
              </a:defRPr>
            </a:pPr>
            <a:r>
              <a:rPr dirty="0"/>
              <a:t>serviço U(6, 10)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63040"/>
            <a:ext cx="2194560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Q3 – Teste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G/G/1/5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1 servidor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serviço U(2, 4)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1143000"/>
            <a:ext cx="146304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A8C84"/>
                </a:solidFill>
              </a:defRPr>
            </a:pPr>
            <a:r>
              <a:rPr lang="pt-BR" dirty="0"/>
              <a:t>Ch</a:t>
            </a:r>
            <a:r>
              <a:rPr dirty="0"/>
              <a:t>egada externa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1A8C84"/>
                </a:solidFill>
              </a:defRPr>
            </a:pPr>
            <a:r>
              <a:rPr dirty="0"/>
              <a:t>U(5, 7) min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1A8C84"/>
                </a:solidFill>
              </a:defRPr>
            </a:pPr>
            <a:r>
              <a:rPr dirty="0"/>
              <a:t>1ª em 6 min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" y="2148840"/>
            <a:ext cx="1325880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49039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F3A5F"/>
                </a:solidFill>
              </a:defRPr>
            </a:pPr>
            <a:r>
              <a:rPr dirty="0"/>
              <a:t>100%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2148840"/>
            <a:ext cx="1188721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0" y="1691640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F3A5F"/>
                </a:solidFill>
              </a:defRPr>
            </a:pPr>
            <a:r>
              <a:rPr dirty="0"/>
              <a:t>100%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0" y="2148840"/>
            <a:ext cx="1188720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0" y="16459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F3A5F"/>
                </a:solidFill>
              </a:defRPr>
            </a:pPr>
            <a:r>
              <a:rPr dirty="0"/>
              <a:t>80% saída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0" y="2148840"/>
            <a:ext cx="1280160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18319" y="2834640"/>
            <a:ext cx="0" cy="731520"/>
          </a:xfrm>
          <a:prstGeom prst="line">
            <a:avLst/>
          </a:prstGeom>
          <a:ln w="31750">
            <a:solidFill>
              <a:srgbClr val="1A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35040" y="3566160"/>
            <a:ext cx="3383279" cy="0"/>
          </a:xfrm>
          <a:prstGeom prst="line">
            <a:avLst/>
          </a:prstGeom>
          <a:ln w="31750">
            <a:solidFill>
              <a:srgbClr val="1A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035040" y="2834640"/>
            <a:ext cx="0" cy="731520"/>
          </a:xfrm>
          <a:prstGeom prst="line">
            <a:avLst/>
          </a:prstGeom>
          <a:ln w="31750">
            <a:solidFill>
              <a:srgbClr val="1A8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0" y="3611880"/>
            <a:ext cx="3017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A8C84"/>
                </a:solidFill>
              </a:defRPr>
            </a:pPr>
            <a:r>
              <a:rPr dirty="0"/>
              <a:t>20% retorno (retrabalho) Q3 → 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1F2937"/>
                </a:solidFill>
              </a:defRPr>
            </a:pPr>
            <a:r>
              <a:rPr dirty="0"/>
              <a:t>Legenda: caixa = fila G/G/c/K (c servidores; K inclui quem está em serviço) · seta = rota e probabilidade · tempos em minutos · FIFO · Q2 e Q3 sem chegadas externas · chegada a fila cheia = perda (encaminhamento externo definitivo).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5897880"/>
            <a:ext cx="7772400" cy="685800"/>
          </a:xfrm>
          <a:prstGeom prst="roundRect">
            <a:avLst/>
          </a:prstGeom>
          <a:solidFill>
            <a:srgbClr val="F2C230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F3A5F"/>
                </a:solidFill>
              </a:defRPr>
            </a:pPr>
            <a:r>
              <a:rPr dirty="0"/>
              <a:t>Única mudança: Q2 de 1 para 2 técnicos; capacidade 8 mantida.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Probabilidades – cenário melhorado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10/15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272368"/>
              </p:ext>
            </p:extLst>
          </p:nvPr>
        </p:nvGraphicFramePr>
        <p:xfrm>
          <a:off x="548640" y="1325880"/>
          <a:ext cx="76809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Q1 (K=5)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Q2 (K=8)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Q3 (K=5)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49,9870%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0,4374%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37,5068%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50,0130%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32,5319%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55,5736%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40,7335%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6,9174%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18,4860%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0,0022%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5,5527%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1,6312%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0,4870%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0,1210%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0,0193%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–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Soma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100,0000%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100,0000%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100,0000%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503920" y="1325880"/>
                <a:ext cx="3291840" cy="23627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600"/>
                  </a:spcAft>
                  <a:defRPr sz="1500" b="0">
                    <a:solidFill>
                      <a:srgbClr val="1F2937"/>
                    </a:solidFill>
                  </a:defRPr>
                </a:pPr>
                <a:r>
                  <a:rPr dirty="0"/>
                  <a:t>Cenário melhorado, semente 42.</a:t>
                </a:r>
              </a:p>
              <a:p>
                <a:pPr algn="l">
                  <a:spcAft>
                    <a:spcPts val="600"/>
                  </a:spcAft>
                  <a:defRPr sz="1500" b="0">
                    <a:solidFill>
                      <a:srgbClr val="1F2937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 = tempo no estado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r>
                  <a:rPr dirty="0"/>
                  <a:t>.</a:t>
                </a:r>
              </a:p>
              <a:p>
                <a:pPr algn="l">
                  <a:spcAft>
                    <a:spcPts val="600"/>
                  </a:spcAft>
                  <a:defRPr sz="1500" b="0">
                    <a:solidFill>
                      <a:srgbClr val="1F2937"/>
                    </a:solidFill>
                  </a:defRPr>
                </a:pPr>
                <a:r>
                  <a:rPr dirty="0"/>
                  <a:t>“–” = estado acima da capacidade K.</a:t>
                </a:r>
              </a:p>
              <a:p>
                <a:pPr algn="l">
                  <a:spcAft>
                    <a:spcPts val="600"/>
                  </a:spcAft>
                  <a:defRPr sz="1500" b="0">
                    <a:solidFill>
                      <a:srgbClr val="1F2937"/>
                    </a:solidFill>
                  </a:defRPr>
                </a:pPr>
                <a:r>
                  <a:rPr dirty="0"/>
                  <a:t>Percentuais com 4 casas; a soma arredondada pode divergir de 100%.</a:t>
                </a:r>
              </a:p>
              <a:p>
                <a:pPr algn="l">
                  <a:spcAft>
                    <a:spcPts val="600"/>
                  </a:spcAft>
                  <a:defRPr sz="1500" b="0">
                    <a:solidFill>
                      <a:srgbClr val="1F2937"/>
                    </a:solidFill>
                  </a:defRPr>
                </a:pPr>
                <a:r>
                  <a:rPr dirty="0"/>
                  <a:t>P(K) é fração do tempo com a fila cheia, não a probabilidade de perda (chegadas não Poisson).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0" y="1325880"/>
                <a:ext cx="3291840" cy="2362763"/>
              </a:xfrm>
              <a:prstGeom prst="rect">
                <a:avLst/>
              </a:prstGeom>
              <a:blipFill>
                <a:blip r:embed="rId3"/>
                <a:stretch>
                  <a:fillRect l="-741" t="-775" r="-1481" b="-2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Índices – cenário melhorado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11/15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Fila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N (clientes)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U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D_h (atend./h)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W (min/visita)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Perdas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Perdas/h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Q1 – Triagem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0,5001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50,01%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10,0026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3,0000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0,000000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Q2 – Reparo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2,0375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83,30%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12,4945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9,7842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12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0,000690</a:t>
                      </a:r>
                    </a:p>
                  </a:txBody>
                  <a:tcPr anchor="ctr">
                    <a:solidFill>
                      <a:srgbClr val="F2C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Q3 – Teste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0,6941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62,49%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12,4986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3,3323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0,000000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8640" y="3840480"/>
                <a:ext cx="11064240" cy="1730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600"/>
                  </a:spcAft>
                  <a:defRPr sz="1700" b="0">
                    <a:solidFill>
                      <a:srgbClr val="1F2937"/>
                    </a:solidFill>
                  </a:defRPr>
                </a:pPr>
                <a:r>
                  <a:rPr dirty="0"/>
                  <a:t>Cenário melhorado, semente 42: T = 1.043.673,87 min simulados.</a:t>
                </a:r>
              </a:p>
              <a:p>
                <a:pPr algn="l">
                  <a:spcAft>
                    <a:spcPts val="600"/>
                  </a:spcAft>
                  <a:defRPr sz="1700" b="0">
                    <a:solidFill>
                      <a:srgbClr val="1F2937"/>
                    </a:solidFill>
                  </a:defRPr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pt-BR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dirty="0"/>
                  <a:t> (média por servidor);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i="0" dirty="0">
                        <a:latin typeface="Cambria Math" panose="02040503050406030204" pitchFamily="18" charset="0"/>
                      </a:rPr>
                      <m:t>·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dirty="0"/>
                  <a:t> (atend./min),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 err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pt-BR" i="1" dirty="0" err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pt-BR" i="0" dirty="0" err="1">
                        <a:latin typeface="Cambria Math" panose="02040503050406030204" pitchFamily="18" charset="0"/>
                      </a:rPr>
                      <m:t>=60·</m:t>
                    </m:r>
                    <m:r>
                      <a:rPr lang="pt-BR" i="1" dirty="0" err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dirty="0"/>
                  <a:t>: estimativa da vazão local, inclui revisitas.</a:t>
                </a:r>
              </a:p>
              <a:p>
                <a:pPr algn="l">
                  <a:spcAft>
                    <a:spcPts val="600"/>
                  </a:spcAft>
                  <a:defRPr sz="1700" b="0">
                    <a:solidFill>
                      <a:srgbClr val="1F2937"/>
                    </a:solidFill>
                  </a:defRPr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pt-BR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D</m:t>
                        </m:r>
                      </m:den>
                    </m:f>
                  </m:oMath>
                </a14:m>
                <a:r>
                  <a:rPr dirty="0"/>
                  <a:t>, com D por minuto (Little): estimativa de longo prazo por visita, não por ordem.</a:t>
                </a:r>
              </a:p>
              <a:p>
                <a:pPr algn="l">
                  <a:spcAft>
                    <a:spcPts val="600"/>
                  </a:spcAft>
                  <a:defRPr sz="1700" b="0">
                    <a:solidFill>
                      <a:srgbClr val="1F293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Perdas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pt-BR" i="0" dirty="0" err="1">
                        <a:latin typeface="Cambria Math" panose="02040503050406030204" pitchFamily="18" charset="0"/>
                      </a:rPr>
                      <m:t>=60·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Perdas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r>
                  <a:rPr dirty="0"/>
                  <a:t>: taxa observada, comparável entre execuções de duração diferente.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840480"/>
                <a:ext cx="11064240" cy="1730025"/>
              </a:xfrm>
              <a:prstGeom prst="rect">
                <a:avLst/>
              </a:prstGeom>
              <a:blipFill>
                <a:blip r:embed="rId3"/>
                <a:stretch>
                  <a:fillRect l="-331" t="-10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Comparação: reparo e efeito no teste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12/15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3819583"/>
                  </p:ext>
                </p:extLst>
              </p:nvPr>
            </p:nvGraphicFramePr>
            <p:xfrm>
              <a:off x="548640" y="1325880"/>
              <a:ext cx="6400800" cy="365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dirty="0"/>
                            <a:t>Métrica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dirty="0"/>
                            <a:t>Inicial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dirty="0"/>
                            <a:t>Melhorado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dirty="0"/>
                            <a:t>Variação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Q2 N (clientes)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7,6304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2,0375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-73,30%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Q2 U (por técnico)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100,00%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83,30%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-16,70 p.p.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Q2 W (min/visita)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61,0436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9,7842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-83,97%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Q2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dirty="0" err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pt-BR" i="1" dirty="0" err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oMath>
                          </a14:m>
                          <a:r>
                            <a:rPr dirty="0"/>
                            <a:t> (atend./h)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7,5000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12,4945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66,59%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Q2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perdas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pt-BR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oMath>
                          </a14:m>
                          <a:endParaRPr dirty="0"/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3,997098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0,000690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-99,98%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Q3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dirty="0" err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pt-BR" i="1" dirty="0" err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oMath>
                          </a14:m>
                          <a:r>
                            <a:rPr dirty="0"/>
                            <a:t> (atend./h)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7,4984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12,4986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66,68%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Q3 W (min/visita)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3,0000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3,3323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11,08%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3819583"/>
                  </p:ext>
                </p:extLst>
              </p:nvPr>
            </p:nvGraphicFramePr>
            <p:xfrm>
              <a:off x="548640" y="1325880"/>
              <a:ext cx="6400800" cy="365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t>Métrica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t>Inicial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t>Melhorado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t>Variação</a:t>
                          </a:r>
                        </a:p>
                      </a:txBody>
                      <a:tcPr anchor="ctr">
                        <a:solidFill>
                          <a:srgbClr val="1F3A5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Q2 N (clientes)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7,6304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2,0375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-73,30%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Q2 U (por técnico)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100,00%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83,30%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-16,70 p.p.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Q2 W (min/visita)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61,0436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9,7842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-83,97%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0" t="-402667" r="-301141" b="-3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7,5000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12,4945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66,59%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0" t="-502667" r="-301141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3,997098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0,000690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-99,98%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0" t="-602667" r="-301141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7,4984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12,4986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66,68%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Q3 W (min/visita)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3,0000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t>3,3323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400" b="0">
                              <a:solidFill>
                                <a:srgbClr val="1F2937"/>
                              </a:solidFill>
                            </a:defRPr>
                          </a:pPr>
                          <a:r>
                            <a:rPr dirty="0"/>
                            <a:t>11,08%</a:t>
                          </a:r>
                        </a:p>
                      </a:txBody>
                      <a:tcPr anchor="ctr">
                        <a:solidFill>
                          <a:srgbClr val="E8F1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23760" y="1325880"/>
          <a:ext cx="44805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rPr dirty="0"/>
              <a:t>Não somar W das filas como tempo na rede: com retornos, uma ordem visita Q2/Q3 mais de uma vez.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rPr dirty="0"/>
              <a:t>D de Q2 inclui revisitas; não é o número de equipamentos únicos concluídos.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Robustez: 10 sementes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13/15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629356"/>
              </p:ext>
            </p:extLst>
          </p:nvPr>
        </p:nvGraphicFramePr>
        <p:xfrm>
          <a:off x="557693" y="13716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0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Cenário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W Q2 média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W Q2 mín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W Q2 máx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Perdas/h média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Perdas/h mín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Perdas/h máx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lang="pt-BR" dirty="0"/>
                        <a:t>I</a:t>
                      </a:r>
                      <a:r>
                        <a:rPr dirty="0"/>
                        <a:t>nicial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61,0430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61,0399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61,0484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4,000199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3,994754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4,006457</a:t>
                      </a:r>
                    </a:p>
                  </a:txBody>
                  <a:tcPr anchor="ctr">
                    <a:solidFill>
                      <a:srgbClr val="E8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lang="pt-BR" dirty="0"/>
                        <a:t>M</a:t>
                      </a:r>
                      <a:r>
                        <a:rPr dirty="0"/>
                        <a:t>elhorado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9,7514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9,7208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9,7842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0,000891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0,000460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0,001263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3880" y="338328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1F2937"/>
                </a:solidFill>
              </a:defRPr>
            </a:pPr>
            <a:r>
              <a:rPr dirty="0"/>
              <a:t>• 10 sementes por cenário (42..51); W em min/visita, perdas por hora.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1F2937"/>
                </a:solidFill>
              </a:defRPr>
            </a:pPr>
            <a:r>
              <a:rPr dirty="0"/>
              <a:t>• O sentido da melhoria se repete em todas as sementes do resumo acima.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1F2937"/>
                </a:solidFill>
              </a:defRPr>
            </a:pPr>
            <a:r>
              <a:rPr dirty="0"/>
              <a:t>• Resumo descritivo (média, mínimo, máximo); não é intervalo de confiança.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Conclusão, custo e limites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14/15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100" b="0">
                <a:solidFill>
                  <a:srgbClr val="1F2937"/>
                </a:solidFill>
              </a:defRPr>
            </a:pPr>
            <a:r>
              <a:rPr dirty="0"/>
              <a:t>• Com 2 técnicos no reparo, W de Q2: 61,04 → 9,78 min/visita.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1F2937"/>
                </a:solidFill>
              </a:defRPr>
            </a:pPr>
            <a:r>
              <a:rPr dirty="0"/>
              <a:t>• Perdas/h em Q2: 3,9971 → 0,000690 (raras, não eliminadas).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1F2937"/>
                </a:solidFill>
              </a:defRPr>
            </a:pPr>
            <a:r>
              <a:rPr dirty="0"/>
              <a:t>• Custo: um técnico adicional (não estimado em dinheiro).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1F2937"/>
                </a:solidFill>
              </a:defRPr>
            </a:pPr>
            <a:r>
              <a:rPr dirty="0"/>
              <a:t>• A simulação não prova rentabilidade nem o comportamento de uma empresa real.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1F2937"/>
                </a:solidFill>
              </a:defRPr>
            </a:pPr>
            <a:r>
              <a:rPr dirty="0"/>
              <a:t>• Limites: modelo hipotético, tempos uniformes supostos, sem warmup, D estimada pela ocupação.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A5F"/>
                </a:solidFill>
              </a:defRPr>
            </a:pPr>
            <a:r>
              <a:rPr dirty="0"/>
              <a:t>Referências e 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1A8C84"/>
                </a:solidFill>
              </a:defRPr>
            </a:pPr>
            <a:r>
              <a:rPr dirty="0"/>
              <a:t>15/15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48640" y="1371600"/>
                <a:ext cx="11064240" cy="19201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600"/>
                  </a:spcAft>
                  <a:defRPr sz="1900" b="0">
                    <a:solidFill>
                      <a:srgbClr val="1F2937"/>
                    </a:solidFill>
                  </a:defRPr>
                </a:pPr>
                <a:r>
                  <a:rPr dirty="0"/>
                  <a:t>• Prof. Afonso Sales, M9 – Avaliação de um Modelo Simulado, PUCRS 2026/2.</a:t>
                </a:r>
              </a:p>
              <a:p>
                <a:pPr algn="l">
                  <a:spcAft>
                    <a:spcPts val="600"/>
                  </a:spcAft>
                  <a:defRPr sz="1900" b="0">
                    <a:solidFill>
                      <a:srgbClr val="1F2937"/>
                    </a:solidFill>
                  </a:defRPr>
                </a:pPr>
                <a:r>
                  <a:rPr dirty="0"/>
                  <a:t>• T1/simulador_fila.py – motor de simulação reutilizado.</a:t>
                </a:r>
              </a:p>
              <a:p>
                <a:pPr algn="l">
                  <a:spcAft>
                    <a:spcPts val="600"/>
                  </a:spcAft>
                  <a:defRPr sz="1900" b="0">
                    <a:solidFill>
                      <a:srgbClr val="1F2937"/>
                    </a:solidFill>
                  </a:defRPr>
                </a:pPr>
                <a:r>
                  <a:rPr dirty="0"/>
                  <a:t>• T2/analise.py – índices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N, U, D, W,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perdas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dirty="0"/>
                  <a:t>) e resumo das sementes.</a:t>
                </a:r>
              </a:p>
              <a:p>
                <a:pPr algn="l">
                  <a:spcAft>
                    <a:spcPts val="600"/>
                  </a:spcAft>
                  <a:defRPr sz="1900" b="0">
                    <a:solidFill>
                      <a:srgbClr val="1F2937"/>
                    </a:solidFill>
                  </a:defRPr>
                </a:pPr>
                <a:r>
                  <a:rPr dirty="0"/>
                  <a:t>• Larson &amp; Odoni, Urban Operations Research, seção 4.4 (lei de Little): </a:t>
                </a:r>
                <a:r>
                  <a:rPr dirty="0">
                    <a:hlinkClick r:id="rId3"/>
                  </a:rPr>
                  <a:t>https://web.mit.edu/urban_or_book/www/book/chapter4/4.4.html</a:t>
                </a:r>
                <a:endParaRPr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371600"/>
                <a:ext cx="11064240" cy="1920141"/>
              </a:xfrm>
              <a:prstGeom prst="rect">
                <a:avLst/>
              </a:prstGeom>
              <a:blipFill>
                <a:blip r:embed="rId4"/>
                <a:stretch>
                  <a:fillRect l="-496" t="-1587" b="-4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2917</Words>
  <Application>Microsoft Office PowerPoint</Application>
  <PresentationFormat>Widescreen</PresentationFormat>
  <Paragraphs>385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Humberto Gomes</cp:lastModifiedBy>
  <cp:revision>4</cp:revision>
  <dcterms:created xsi:type="dcterms:W3CDTF">2013-01-27T09:14:16Z</dcterms:created>
  <dcterms:modified xsi:type="dcterms:W3CDTF">2026-10-14T19:13:59Z</dcterms:modified>
  <cp:category/>
</cp:coreProperties>
</file>